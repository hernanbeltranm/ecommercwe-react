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9" r:id="rId7"/>
    <p:sldId id="259" r:id="rId8"/>
    <p:sldId id="267" r:id="rId9"/>
    <p:sldId id="268" r:id="rId10"/>
    <p:sldId id="260" r:id="rId11"/>
    <p:sldId id="261" r:id="rId12"/>
    <p:sldId id="262" r:id="rId13"/>
    <p:sldId id="263" r:id="rId14"/>
    <p:sldId id="264" r:id="rId15"/>
    <p:sldId id="271" r:id="rId16"/>
    <p:sldId id="270" r:id="rId17"/>
    <p:sldId id="272" r:id="rId18"/>
    <p:sldId id="273" r:id="rId19"/>
    <p:sldId id="274" r:id="rId20"/>
    <p:sldId id="265" r:id="rId21"/>
    <p:sldId id="266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10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2B450-2840-1313-E03E-ACF327A45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3CB2C3-84C0-9442-9DBE-DAEE191E4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903A02-9C30-9255-20AE-C0F8F1A3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601B12-BBBE-EAC0-CD05-6B5B5D44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A6CC6E-19C3-1C3D-029C-F82441C7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276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8EDCA-A2C0-0A29-2ECF-A3030833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0DB93-E696-6D35-F937-8DB7943DE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46970B-B4D4-CD57-60F0-BD26A1EB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2F653-6A80-DF33-F52B-1CA00B08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45878D-5E71-F3FE-5B99-33DAB85A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844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57E8A-6113-6948-5E87-2B2F32CD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B1981B-4E63-D28B-A69D-67F982E6E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ADD4A6-43A8-13DB-AAA5-7F679BAE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AE0754-3946-686A-1E66-9D782D1B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AAB957-3F06-C881-AD89-7A07A983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067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C2D26-E244-8D69-3B88-A72CE325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ADDC5B-C120-DC4B-24F3-36FB4F4EE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03173C-A457-A251-6007-B08487999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3E9C25-FC1D-EED2-DA52-898C4519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0D95DB-5F07-DC19-D903-0A77509C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8DF0FD-F78D-A025-F6BC-B62849D3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028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D1131-F4C4-E0FA-AA68-51397554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5F1F73-DEAB-0323-D4B1-9D2BE53D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D2F546-A49C-320C-783B-69C663711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27781F-8BF8-A7AE-C60B-7EECCF357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D809F7-8421-0463-4003-2AD598933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1BC306-08BC-9A75-253E-8B928099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92D22D-8AC0-D0D4-5E0B-D1212D49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C79FC6-8028-45E2-C9C7-10B89420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686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A5C31-AE1D-02A1-4046-6E6BBB5D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E808CB4-F9BA-6C62-C06B-21AB5427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63297A-B7C5-CDE1-F6C4-467303B7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74FF16-27A7-46AD-5224-C60B9963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127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DE156E-780E-4865-0E03-6D9E3A21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8ED19D-84DE-FC97-C0A1-D72D04B2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989A92-4746-4333-7B12-34CD3A81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405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C1A31-6A96-F217-DBC4-5BA759BE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B4FCB-BFE5-5BE9-05BB-645BEDFC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7C5AA2-C0EA-5906-53A7-0F7543EBB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BBE31D-21DC-4B8D-3FE2-B78907B5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DEDAE7-F92F-723C-E92A-2277D39C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1AD274-F2D2-77BF-1CE0-50344238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141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861E3-0222-20DA-5E4A-BEB6D13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0A09CCC-0356-8033-A1C8-E395BC21B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689BBF-43B8-1ADF-340B-3185325BC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64B7AB-D97B-099F-6D2E-3279B797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0EAC2-3A77-F19F-7EC4-F7317294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1A27FC-7DC2-EAEF-EDB9-7D6435FE7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364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166AB-F7D7-7809-E1B1-AEF1999F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25AA23-6CAE-8321-F9E4-6D644EEA0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AEAAFE-E90F-4145-3908-CB36ED5E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13424A-B551-95BC-843F-4529D736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5178D-123C-841F-488D-980960C0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104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E4014F-6309-20C6-EA9A-2BCFFF849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BEB557-83D8-19C0-ED3E-392024F0F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AF496-7D1C-EAC3-95C5-C8FB3592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1D044-0EFF-9E33-4CEA-F7049D18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182F5-5B0C-AF8E-80F1-6D485353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463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27268B-6C19-59E4-03A6-4FFA5914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9F25CA-E52D-ED03-7E9A-07369E9C5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A2E5FF-956D-BD98-C558-7FDFEFBAF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4B272-1E65-4065-A465-DCBECA64219D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EDDA87-D2A6-7029-7B3A-0DF4026AB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E561E2-FDE9-3232-4C16-FDBF62092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54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640" y="1638230"/>
            <a:ext cx="9792719" cy="41977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4000" b="1" dirty="0"/>
              <a:t>Objetivo de la sesión</a:t>
            </a:r>
          </a:p>
          <a:p>
            <a:pPr marL="0" indent="0">
              <a:buNone/>
            </a:pPr>
            <a:endParaRPr lang="es-MX" sz="4000" b="1" dirty="0"/>
          </a:p>
          <a:p>
            <a:r>
              <a:rPr lang="es-MX" sz="4000" dirty="0"/>
              <a:t>Entender qué es </a:t>
            </a:r>
            <a:r>
              <a:rPr lang="es-MX" sz="4000" dirty="0" err="1"/>
              <a:t>React</a:t>
            </a:r>
            <a:r>
              <a:rPr lang="es-MX" sz="4000" dirty="0"/>
              <a:t> (a nivel práctico) </a:t>
            </a:r>
          </a:p>
          <a:p>
            <a:r>
              <a:rPr lang="es-MX" sz="4000" dirty="0"/>
              <a:t>Crear el proyecto desde cero </a:t>
            </a:r>
          </a:p>
          <a:p>
            <a:r>
              <a:rPr lang="es-MX" sz="4000" dirty="0"/>
              <a:t>Renderizar los primeros componentes </a:t>
            </a:r>
          </a:p>
          <a:p>
            <a:r>
              <a:rPr lang="es-MX" sz="4000" dirty="0"/>
              <a:t>Dejar una base funcional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 fontScale="90000"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SESIÓN 1 – Inicio del proyecto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0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991A97D7-8146-42CC-9ECE-1794C2084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112900"/>
              </p:ext>
            </p:extLst>
          </p:nvPr>
        </p:nvGraphicFramePr>
        <p:xfrm>
          <a:off x="1200150" y="1613097"/>
          <a:ext cx="97917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2803">
                  <a:extLst>
                    <a:ext uri="{9D8B030D-6E8A-4147-A177-3AD203B41FA5}">
                      <a16:colId xmlns:a16="http://schemas.microsoft.com/office/drawing/2014/main" val="352548360"/>
                    </a:ext>
                  </a:extLst>
                </a:gridCol>
                <a:gridCol w="5518897">
                  <a:extLst>
                    <a:ext uri="{9D8B030D-6E8A-4147-A177-3AD203B41FA5}">
                      <a16:colId xmlns:a16="http://schemas.microsoft.com/office/drawing/2014/main" val="2352479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3600" dirty="0"/>
                        <a:t>SPA con 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err="1"/>
                        <a:t>React</a:t>
                      </a:r>
                      <a:endParaRPr lang="es-CO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18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3600" dirty="0"/>
                        <a:t>Manipulación manual del 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3600" dirty="0" err="1"/>
                        <a:t>React</a:t>
                      </a:r>
                      <a:r>
                        <a:rPr lang="es-CO" sz="3600" dirty="0"/>
                        <a:t> actualiza automáticamente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845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3600" dirty="0"/>
                        <a:t>Código disperso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3600" dirty="0"/>
                        <a:t>Componentes reutilizables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592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3600" dirty="0"/>
                        <a:t>Difícil de escalar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3600" dirty="0"/>
                        <a:t>Arquitectura clara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191239"/>
                  </a:ext>
                </a:extLst>
              </a:tr>
            </a:tbl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SESIÓN 1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2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0D420BB-CC51-4622-AD54-6D9B09A37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613" y="1650252"/>
            <a:ext cx="6385245" cy="4469671"/>
          </a:xfr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SESIÓN 1 – Estructura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68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1. Crear el Proyecto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8FD9AA-6AEB-426E-8789-50C59FE5F8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989" y="1992528"/>
            <a:ext cx="538778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 1: Abrir terminal usando CMD. Escribir: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npm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vite@latest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ecommerce-react</a:t>
            </a: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 2: Seleccionar opciones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Framework: </a:t>
            </a:r>
            <a:r>
              <a:rPr kumimoji="0" lang="es-CO" altLang="es-CO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React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Variant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✅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F00658B-3B3C-4CBC-9B53-666EFB875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6693"/>
            <a:ext cx="5603011" cy="416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0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1. Crear el Proyecto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8FD9AA-6AEB-426E-8789-50C59FE5F8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6154" y="1166842"/>
            <a:ext cx="634252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Paso 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3200" dirty="0"/>
              <a:t>Seleccionar</a:t>
            </a:r>
            <a:r>
              <a:rPr lang="es-CO" altLang="es-CO" sz="3200" b="1" dirty="0"/>
              <a:t> No</a:t>
            </a:r>
            <a:r>
              <a:rPr lang="es-CO" altLang="es-CO" sz="3200" dirty="0"/>
              <a:t> (usando el teclado)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cd </a:t>
            </a: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ecommerce-react</a:t>
            </a:r>
            <a:b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npm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install</a:t>
            </a: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3200" dirty="0">
                <a:solidFill>
                  <a:srgbClr val="0070C0"/>
                </a:solidFill>
              </a:rPr>
              <a:t>&lt;opcional&gt; </a:t>
            </a:r>
            <a:r>
              <a:rPr lang="es-CO" altLang="es-CO" sz="3200" dirty="0" err="1">
                <a:solidFill>
                  <a:srgbClr val="0070C0"/>
                </a:solidFill>
              </a:rPr>
              <a:t>npm</a:t>
            </a:r>
            <a:r>
              <a:rPr lang="es-CO" altLang="es-CO" sz="3200" dirty="0">
                <a:solidFill>
                  <a:srgbClr val="0070C0"/>
                </a:solidFill>
              </a:rPr>
              <a:t> </a:t>
            </a:r>
            <a:r>
              <a:rPr lang="es-CO" altLang="es-CO" sz="3200" dirty="0" err="1">
                <a:solidFill>
                  <a:srgbClr val="0070C0"/>
                </a:solidFill>
              </a:rPr>
              <a:t>fund</a:t>
            </a:r>
            <a:b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npm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run </a:t>
            </a: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dev</a:t>
            </a: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Mostrar en navegador: http://localhost:5173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EBA4A9-3841-4439-A822-99BFBE1CB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246" y="2232211"/>
            <a:ext cx="6158753" cy="392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0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2. </a:t>
            </a:r>
            <a:r>
              <a:rPr lang="es-MX" sz="4800" b="1" dirty="0"/>
              <a:t>Comprender la estructura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0B0999A6-A918-4EE2-9CA1-06FA3B838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29802"/>
            <a:ext cx="10901082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400" dirty="0"/>
              <a:t>Ir a la carpeta C:\Users\Cesde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400" dirty="0"/>
              <a:t>Ubicar la carpeta del proyecto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400" dirty="0"/>
              <a:t>Clic derecho y seleccionar </a:t>
            </a:r>
            <a:r>
              <a:rPr lang="es-MX" sz="3400" dirty="0">
                <a:solidFill>
                  <a:schemeClr val="bg1"/>
                </a:solidFill>
                <a:highlight>
                  <a:srgbClr val="808080"/>
                </a:highlight>
              </a:rPr>
              <a:t>Abrir con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400" dirty="0"/>
              <a:t>Clic en </a:t>
            </a:r>
            <a:r>
              <a:rPr lang="es-MX" sz="3400" dirty="0" err="1"/>
              <a:t>src</a:t>
            </a:r>
            <a:r>
              <a:rPr lang="es-MX" sz="3400" dirty="0"/>
              <a:t> (</a:t>
            </a:r>
            <a:r>
              <a:rPr lang="es-MX" sz="3400" dirty="0" err="1"/>
              <a:t>source</a:t>
            </a:r>
            <a:r>
              <a:rPr lang="es-MX" sz="3400" dirty="0"/>
              <a:t>) y abrir </a:t>
            </a:r>
            <a:r>
              <a:rPr lang="es-CO" sz="3400" b="1" dirty="0" err="1">
                <a:solidFill>
                  <a:srgbClr val="FF0000"/>
                </a:solidFill>
              </a:rPr>
              <a:t>main.jsx</a:t>
            </a:r>
            <a:endParaRPr lang="es-CO" sz="3400" b="1" dirty="0">
              <a:solidFill>
                <a:srgbClr val="FF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O" altLang="es-CO" sz="3400" b="1" dirty="0">
                <a:solidFill>
                  <a:schemeClr val="accent6">
                    <a:lumMod val="75000"/>
                  </a:schemeClr>
                </a:solidFill>
              </a:rPr>
              <a:t>&lt; -- Es el archivo que inicia la aplicación </a:t>
            </a:r>
            <a:r>
              <a:rPr lang="es-CO" altLang="es-CO" sz="3400" b="1" dirty="0" err="1">
                <a:solidFill>
                  <a:schemeClr val="accent6">
                    <a:lumMod val="75000"/>
                  </a:schemeClr>
                </a:solidFill>
              </a:rPr>
              <a:t>React</a:t>
            </a:r>
            <a:endParaRPr lang="es-CO" altLang="es-CO" sz="3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O" altLang="es-CO" sz="3400" b="1" dirty="0">
                <a:solidFill>
                  <a:schemeClr val="accent6">
                    <a:lumMod val="75000"/>
                  </a:schemeClr>
                </a:solidFill>
              </a:rPr>
              <a:t>       Conecta </a:t>
            </a:r>
            <a:r>
              <a:rPr lang="es-CO" altLang="es-CO" sz="3400" b="1" dirty="0" err="1">
                <a:solidFill>
                  <a:schemeClr val="accent6">
                    <a:lumMod val="75000"/>
                  </a:schemeClr>
                </a:solidFill>
              </a:rPr>
              <a:t>React</a:t>
            </a:r>
            <a:r>
              <a:rPr lang="es-CO" altLang="es-CO" sz="3400" b="1" dirty="0">
                <a:solidFill>
                  <a:schemeClr val="accent6">
                    <a:lumMod val="75000"/>
                  </a:schemeClr>
                </a:solidFill>
              </a:rPr>
              <a:t> con el HTML -- 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400" dirty="0" err="1">
                <a:solidFill>
                  <a:schemeClr val="bg1"/>
                </a:solidFill>
                <a:highlight>
                  <a:srgbClr val="808080"/>
                </a:highlight>
              </a:rPr>
              <a:t>StrictMode</a:t>
            </a:r>
            <a:r>
              <a:rPr lang="es-MX" sz="3400" dirty="0">
                <a:solidFill>
                  <a:schemeClr val="bg1"/>
                </a:solidFill>
                <a:highlight>
                  <a:srgbClr val="808080"/>
                </a:highlight>
              </a:rPr>
              <a:t>  </a:t>
            </a:r>
            <a:r>
              <a:rPr lang="es-MX" sz="3400" dirty="0">
                <a:sym typeface="Wingdings" panose="05000000000000000000" pitchFamily="2" charset="2"/>
              </a:rPr>
              <a:t>ayuda a detectar problemas (modo desarrollo)</a:t>
            </a:r>
            <a:br>
              <a:rPr kumimoji="0" lang="es-CO" altLang="es-CO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s-MX" sz="3400" dirty="0" err="1">
                <a:solidFill>
                  <a:schemeClr val="bg1"/>
                </a:solidFill>
                <a:highlight>
                  <a:srgbClr val="808080"/>
                </a:highlight>
              </a:rPr>
              <a:t>createRoot</a:t>
            </a:r>
            <a:r>
              <a:rPr lang="es-MX" sz="3400" dirty="0">
                <a:solidFill>
                  <a:schemeClr val="bg1"/>
                </a:solidFill>
                <a:highlight>
                  <a:srgbClr val="808080"/>
                </a:highlight>
              </a:rPr>
              <a:t>  </a:t>
            </a:r>
            <a:r>
              <a:rPr lang="es-MX" sz="3400" dirty="0">
                <a:sym typeface="Wingdings" panose="05000000000000000000" pitchFamily="2" charset="2"/>
              </a:rPr>
              <a:t>crea la raíz de </a:t>
            </a:r>
            <a:r>
              <a:rPr lang="es-MX" sz="3400" dirty="0" err="1">
                <a:sym typeface="Wingdings" panose="05000000000000000000" pitchFamily="2" charset="2"/>
              </a:rPr>
              <a:t>React</a:t>
            </a:r>
            <a:r>
              <a:rPr lang="es-MX" sz="3400" dirty="0">
                <a:sym typeface="Wingdings" panose="05000000000000000000" pitchFamily="2" charset="2"/>
              </a:rPr>
              <a:t> en el navegador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400" dirty="0">
                <a:solidFill>
                  <a:schemeClr val="bg1"/>
                </a:solidFill>
                <a:highlight>
                  <a:srgbClr val="808080"/>
                </a:highlight>
              </a:rPr>
              <a:t>index.css </a:t>
            </a:r>
            <a:r>
              <a:rPr lang="es-MX" sz="3400" dirty="0">
                <a:sym typeface="Wingdings" panose="05000000000000000000" pitchFamily="2" charset="2"/>
              </a:rPr>
              <a:t> estilos globales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400" dirty="0">
                <a:solidFill>
                  <a:schemeClr val="bg1"/>
                </a:solidFill>
                <a:highlight>
                  <a:srgbClr val="808080"/>
                </a:highlight>
              </a:rPr>
              <a:t>App </a:t>
            </a:r>
            <a:r>
              <a:rPr lang="es-MX" sz="3400" dirty="0">
                <a:sym typeface="Wingdings" panose="05000000000000000000" pitchFamily="2" charset="2"/>
              </a:rPr>
              <a:t> el componente principal</a:t>
            </a:r>
            <a:endParaRPr kumimoji="0" lang="es-CO" altLang="es-CO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958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2. </a:t>
            </a:r>
            <a:r>
              <a:rPr lang="es-MX" sz="4800" b="1" dirty="0"/>
              <a:t>Comprender la estructura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0B0999A6-A918-4EE2-9CA1-06FA3B838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0332" y="1237932"/>
            <a:ext cx="104842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3600" dirty="0"/>
              <a:t>Ahora abra </a:t>
            </a:r>
            <a:r>
              <a:rPr lang="es-CO" sz="3600" b="1" dirty="0" err="1">
                <a:solidFill>
                  <a:srgbClr val="FF0000"/>
                </a:solidFill>
              </a:rPr>
              <a:t>App.jsx</a:t>
            </a:r>
            <a:endParaRPr lang="es-CO" sz="3600" b="1" dirty="0">
              <a:solidFill>
                <a:srgbClr val="FF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Modifique la función App()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Aplique comentarios a la función que allí aparece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O" altLang="es-CO" sz="3600" dirty="0"/>
              <a:t>Escriba 		</a:t>
            </a:r>
            <a:r>
              <a:rPr lang="es-CO" altLang="es-CO" sz="3600" dirty="0">
                <a:sym typeface="Wingdings" panose="05000000000000000000" pitchFamily="2" charset="2"/>
              </a:rPr>
              <a:t></a:t>
            </a:r>
            <a:r>
              <a:rPr lang="es-CO" altLang="es-CO" sz="3600" dirty="0"/>
              <a:t> 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D3BE64-A6E4-4455-A053-A7E86502CE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" r="2763"/>
          <a:stretch/>
        </p:blipFill>
        <p:spPr>
          <a:xfrm>
            <a:off x="4294384" y="2905181"/>
            <a:ext cx="7167284" cy="38385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12406FA-5C33-412E-8C5C-9FAF8B5ED5C3}"/>
              </a:ext>
            </a:extLst>
          </p:cNvPr>
          <p:cNvSpPr txBox="1"/>
          <p:nvPr/>
        </p:nvSpPr>
        <p:spPr>
          <a:xfrm>
            <a:off x="730332" y="3429000"/>
            <a:ext cx="31824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rgbClr val="FF0000"/>
                </a:solidFill>
              </a:rPr>
              <a:t>Revise.</a:t>
            </a:r>
          </a:p>
          <a:p>
            <a:r>
              <a:rPr lang="es-CO" sz="3600" b="1" dirty="0">
                <a:solidFill>
                  <a:srgbClr val="FF0000"/>
                </a:solidFill>
              </a:rPr>
              <a:t>Ahora escriba su nombre y un mensaje personal.</a:t>
            </a:r>
          </a:p>
        </p:txBody>
      </p:sp>
    </p:spTree>
    <p:extLst>
      <p:ext uri="{BB962C8B-B14F-4D97-AF65-F5344CB8AC3E}">
        <p14:creationId xmlns:p14="http://schemas.microsoft.com/office/powerpoint/2010/main" val="57546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3. </a:t>
            </a:r>
            <a:r>
              <a:rPr lang="es-MX" sz="4800" b="1" dirty="0"/>
              <a:t>Limpieza del proyecto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0B0999A6-A918-4EE2-9CA1-06FA3B838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73623" y="1586746"/>
            <a:ext cx="8444753" cy="476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s-MX" sz="3600" dirty="0"/>
              <a:t>Eliminar:</a:t>
            </a:r>
          </a:p>
          <a:p>
            <a:r>
              <a:rPr lang="es-MX" sz="3600" dirty="0"/>
              <a:t>Logos </a:t>
            </a:r>
          </a:p>
          <a:p>
            <a:r>
              <a:rPr lang="es-MX" sz="3600" dirty="0"/>
              <a:t>CSS innecesario </a:t>
            </a:r>
          </a:p>
          <a:p>
            <a:r>
              <a:rPr lang="es-MX" sz="3600" dirty="0"/>
              <a:t>Código de ejemplo </a:t>
            </a:r>
          </a:p>
          <a:p>
            <a:pPr marL="0" indent="0">
              <a:buNone/>
            </a:pPr>
            <a:r>
              <a:rPr lang="es-MX" sz="3600" dirty="0"/>
              <a:t>Dejar: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O" altLang="es-CO" sz="3600" dirty="0" err="1"/>
              <a:t>function</a:t>
            </a:r>
            <a:r>
              <a:rPr lang="es-CO" altLang="es-CO" sz="3600" dirty="0"/>
              <a:t> App()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O" altLang="es-CO" sz="3600" dirty="0"/>
              <a:t>  </a:t>
            </a:r>
            <a:r>
              <a:rPr lang="es-CO" altLang="es-CO" sz="3600" dirty="0" err="1"/>
              <a:t>return</a:t>
            </a:r>
            <a:r>
              <a:rPr lang="es-CO" altLang="es-CO" sz="3600" dirty="0"/>
              <a:t> &lt;h1&gt;Mi tienda&lt;/h1&gt;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O" altLang="es-CO" sz="3600" dirty="0" err="1"/>
              <a:t>export</a:t>
            </a:r>
            <a:r>
              <a:rPr lang="es-CO" altLang="es-CO" sz="3600" dirty="0"/>
              <a:t> default App</a:t>
            </a:r>
            <a:endParaRPr kumimoji="0" lang="es-CO" altLang="es-CO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991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4. </a:t>
            </a:r>
            <a:r>
              <a:rPr lang="es-MX" sz="4800" b="1" dirty="0"/>
              <a:t>Primer componente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0B0999A6-A918-4EE2-9CA1-06FA3B838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1335" y="1339492"/>
            <a:ext cx="4137218" cy="471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s-MX" sz="3200" b="1" dirty="0"/>
              <a:t>Paso 1</a:t>
            </a:r>
            <a:r>
              <a:rPr lang="es-MX" sz="3200" dirty="0"/>
              <a:t>: Crear carpeta</a:t>
            </a:r>
          </a:p>
          <a:p>
            <a:pPr marL="0" indent="0">
              <a:buNone/>
            </a:pPr>
            <a:r>
              <a:rPr lang="es-MX" dirty="0" err="1"/>
              <a:t>src</a:t>
            </a:r>
            <a:r>
              <a:rPr lang="es-MX" dirty="0"/>
              <a:t>/</a:t>
            </a:r>
            <a:r>
              <a:rPr lang="es-MX" dirty="0" err="1"/>
              <a:t>components</a:t>
            </a:r>
            <a:endParaRPr lang="es-MX" dirty="0"/>
          </a:p>
          <a:p>
            <a:pPr marL="0" indent="0">
              <a:buNone/>
            </a:pPr>
            <a:r>
              <a:rPr lang="es-MX" sz="3200" b="1" dirty="0"/>
              <a:t>Paso 2</a:t>
            </a:r>
            <a:r>
              <a:rPr lang="es-MX" sz="3200" dirty="0"/>
              <a:t>: Crear </a:t>
            </a:r>
            <a:r>
              <a:rPr lang="es-MX" sz="3200" dirty="0" err="1"/>
              <a:t>Navbar.jsx</a:t>
            </a:r>
            <a:endParaRPr lang="es-MX" sz="3200" dirty="0"/>
          </a:p>
          <a:p>
            <a:pPr marL="0" indent="0">
              <a:buNone/>
            </a:pPr>
            <a:r>
              <a:rPr lang="es-MX" dirty="0" err="1"/>
              <a:t>function</a:t>
            </a:r>
            <a:r>
              <a:rPr lang="es-MX" dirty="0"/>
              <a:t> </a:t>
            </a:r>
            <a:r>
              <a:rPr lang="es-MX" dirty="0" err="1"/>
              <a:t>Navbar</a:t>
            </a:r>
            <a:r>
              <a:rPr lang="es-MX" dirty="0"/>
              <a:t>() {</a:t>
            </a:r>
          </a:p>
          <a:p>
            <a:pPr marL="0" indent="0">
              <a:buNone/>
            </a:pPr>
            <a:r>
              <a:rPr lang="es-MX" dirty="0"/>
              <a:t>  </a:t>
            </a:r>
            <a:r>
              <a:rPr lang="es-MX" dirty="0" err="1"/>
              <a:t>return</a:t>
            </a:r>
            <a:r>
              <a:rPr lang="es-MX" dirty="0"/>
              <a:t> ( &lt;</a:t>
            </a:r>
            <a:r>
              <a:rPr lang="es-MX" dirty="0" err="1"/>
              <a:t>nav</a:t>
            </a:r>
            <a:r>
              <a:rPr lang="es-MX" dirty="0"/>
              <a:t>&gt;</a:t>
            </a:r>
          </a:p>
          <a:p>
            <a:pPr marL="0" indent="0">
              <a:buNone/>
            </a:pPr>
            <a:r>
              <a:rPr lang="es-MX" dirty="0"/>
              <a:t>      &lt;h2&gt;Mi tienda&lt;/h2&gt;</a:t>
            </a:r>
          </a:p>
          <a:p>
            <a:pPr marL="0" indent="0">
              <a:buNone/>
            </a:pPr>
            <a:r>
              <a:rPr lang="es-MX" dirty="0"/>
              <a:t>    &lt;/</a:t>
            </a:r>
            <a:r>
              <a:rPr lang="es-MX" dirty="0" err="1"/>
              <a:t>nav</a:t>
            </a:r>
            <a:r>
              <a:rPr lang="es-MX" dirty="0"/>
              <a:t>&gt; ) }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export</a:t>
            </a:r>
            <a:r>
              <a:rPr lang="es-MX" dirty="0"/>
              <a:t> default </a:t>
            </a:r>
            <a:r>
              <a:rPr lang="es-MX" dirty="0" err="1"/>
              <a:t>Navbar</a:t>
            </a:r>
            <a:endParaRPr kumimoji="0" lang="es-CO" altLang="es-CO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AE73480-8EC0-49C5-B2F1-114C51A81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193" y="1334278"/>
            <a:ext cx="6992472" cy="1623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/>
              <a:t>Paso 3</a:t>
            </a:r>
            <a:r>
              <a:rPr lang="es-MX" sz="3200" dirty="0"/>
              <a:t>: Importar en App</a:t>
            </a:r>
          </a:p>
          <a:p>
            <a:pPr marL="0" indent="0">
              <a:buNone/>
            </a:pPr>
            <a:r>
              <a:rPr lang="en-US" altLang="es-CO" dirty="0"/>
              <a:t>import Navbar from './components/Navbar’</a:t>
            </a:r>
          </a:p>
          <a:p>
            <a:pPr marL="0" indent="0">
              <a:buNone/>
            </a:pPr>
            <a:r>
              <a:rPr lang="en-US" altLang="es-CO" sz="3200" b="1" dirty="0"/>
              <a:t>Paso 4</a:t>
            </a:r>
            <a:r>
              <a:rPr lang="en-US" altLang="es-CO" sz="3200" dirty="0"/>
              <a:t>: </a:t>
            </a:r>
            <a:r>
              <a:rPr lang="en-US" altLang="es-CO" sz="3200" dirty="0" err="1"/>
              <a:t>Escribir</a:t>
            </a:r>
            <a:r>
              <a:rPr lang="en-US" altLang="es-CO" sz="3200" dirty="0"/>
              <a:t>: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0B4E7DA-1A13-42F7-862D-A60B46E46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930" y="2957286"/>
            <a:ext cx="6338625" cy="375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16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5. </a:t>
            </a:r>
            <a:r>
              <a:rPr lang="es-MX" sz="4800" b="1" dirty="0"/>
              <a:t>Reutilización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0B0999A6-A918-4EE2-9CA1-06FA3B838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190" y="1270693"/>
            <a:ext cx="509868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s-MX" sz="3000" dirty="0"/>
              <a:t>Dentro de </a:t>
            </a:r>
            <a:r>
              <a:rPr lang="es-MX" sz="3000" dirty="0" err="1"/>
              <a:t>src</a:t>
            </a:r>
            <a:r>
              <a:rPr lang="es-MX" sz="3000" dirty="0"/>
              <a:t>/</a:t>
            </a:r>
            <a:r>
              <a:rPr lang="es-MX" sz="3000" dirty="0" err="1"/>
              <a:t>components</a:t>
            </a:r>
            <a:r>
              <a:rPr lang="es-MX" sz="3000" dirty="0"/>
              <a:t>, crear el archivo </a:t>
            </a:r>
            <a:r>
              <a:rPr lang="es-MX" sz="3000" dirty="0" err="1"/>
              <a:t>ProductCard.jsx</a:t>
            </a:r>
            <a:endParaRPr lang="es-MX" sz="30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13D9781-C136-48FC-93F6-7B41C62C3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294" y="1274079"/>
            <a:ext cx="5493127" cy="1467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3000" dirty="0"/>
              <a:t>Importarlo en </a:t>
            </a:r>
            <a:r>
              <a:rPr lang="es-MX" sz="3000" dirty="0" err="1"/>
              <a:t>App.jsx</a:t>
            </a:r>
            <a:endParaRPr lang="es-MX" sz="3000" dirty="0"/>
          </a:p>
          <a:p>
            <a:pPr marL="0" indent="0">
              <a:buNone/>
            </a:pPr>
            <a:r>
              <a:rPr lang="en-US" sz="3000" dirty="0"/>
              <a:t>import </a:t>
            </a:r>
            <a:r>
              <a:rPr lang="en-US" sz="3000" dirty="0" err="1"/>
              <a:t>ProductCard</a:t>
            </a:r>
            <a:r>
              <a:rPr lang="en-US" sz="3000" dirty="0"/>
              <a:t> from './components/</a:t>
            </a:r>
            <a:r>
              <a:rPr lang="en-US" sz="3000" dirty="0" err="1"/>
              <a:t>ProductCard</a:t>
            </a:r>
            <a:r>
              <a:rPr lang="en-US" sz="3000" dirty="0"/>
              <a:t>'</a:t>
            </a:r>
            <a:endParaRPr lang="es-MX" sz="30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E49AEE8-5137-4C1D-B494-534FF04BA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294" y="3015102"/>
            <a:ext cx="5493127" cy="21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3000" dirty="0"/>
              <a:t>Dentro del </a:t>
            </a:r>
            <a:r>
              <a:rPr lang="es-MX" sz="3000" dirty="0" err="1"/>
              <a:t>return</a:t>
            </a:r>
            <a:r>
              <a:rPr lang="es-MX" sz="3000" dirty="0"/>
              <a:t> de App, agregar</a:t>
            </a:r>
          </a:p>
          <a:p>
            <a:pPr marL="0" indent="0">
              <a:buNone/>
            </a:pPr>
            <a:r>
              <a:rPr lang="es-MX" sz="3000" dirty="0"/>
              <a:t>&lt;</a:t>
            </a:r>
            <a:r>
              <a:rPr lang="es-MX" sz="3000" dirty="0" err="1"/>
              <a:t>ProductCard</a:t>
            </a:r>
            <a:r>
              <a:rPr lang="es-MX" sz="3000" dirty="0"/>
              <a:t> /&gt;</a:t>
            </a:r>
          </a:p>
          <a:p>
            <a:pPr marL="0" indent="0">
              <a:buNone/>
            </a:pPr>
            <a:r>
              <a:rPr lang="es-MX" sz="3000" dirty="0"/>
              <a:t>&lt;</a:t>
            </a:r>
            <a:r>
              <a:rPr lang="es-MX" sz="3000" dirty="0" err="1"/>
              <a:t>ProductCard</a:t>
            </a:r>
            <a:r>
              <a:rPr lang="es-MX" sz="3000" dirty="0"/>
              <a:t> /&gt;</a:t>
            </a:r>
          </a:p>
          <a:p>
            <a:pPr marL="0" indent="0">
              <a:buNone/>
            </a:pPr>
            <a:r>
              <a:rPr lang="es-MX" sz="3000" dirty="0"/>
              <a:t>&lt;</a:t>
            </a:r>
            <a:r>
              <a:rPr lang="es-MX" sz="3000" dirty="0" err="1"/>
              <a:t>ProductCard</a:t>
            </a:r>
            <a:r>
              <a:rPr lang="es-MX" sz="3000" dirty="0"/>
              <a:t> /&gt;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18102D-4E7D-4902-BC4F-4AA1E8AD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65" y="2187997"/>
            <a:ext cx="5079625" cy="42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34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6. </a:t>
            </a:r>
            <a:r>
              <a:rPr lang="es-CO" sz="4800" dirty="0"/>
              <a:t>Introducción a </a:t>
            </a:r>
            <a:r>
              <a:rPr lang="es-CO" sz="4800" dirty="0" err="1"/>
              <a:t>props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F97506-14B6-4681-9CA6-CFB330388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629" y="1637366"/>
            <a:ext cx="10860741" cy="1563034"/>
          </a:xfrm>
        </p:spPr>
        <p:txBody>
          <a:bodyPr/>
          <a:lstStyle/>
          <a:p>
            <a:pPr marL="0" indent="0">
              <a:buNone/>
            </a:pPr>
            <a:r>
              <a:rPr lang="es-MX" dirty="0" err="1"/>
              <a:t>Props</a:t>
            </a:r>
            <a:r>
              <a:rPr lang="es-MX" dirty="0"/>
              <a:t> (</a:t>
            </a:r>
            <a:r>
              <a:rPr lang="es-MX" dirty="0" err="1"/>
              <a:t>properties</a:t>
            </a:r>
            <a:r>
              <a:rPr lang="es-MX" dirty="0"/>
              <a:t>) son datos que un componente recibe desde otro componente.</a:t>
            </a:r>
          </a:p>
          <a:p>
            <a:pPr marL="0" indent="0">
              <a:buNone/>
            </a:pPr>
            <a:r>
              <a:rPr lang="es-MX" dirty="0"/>
              <a:t>Simplemente, los </a:t>
            </a:r>
            <a:r>
              <a:rPr lang="es-MX" dirty="0" err="1"/>
              <a:t>Props</a:t>
            </a:r>
            <a:r>
              <a:rPr lang="es-MX" dirty="0"/>
              <a:t> son parámetros que se le pasan a un componente</a:t>
            </a:r>
            <a:endParaRPr lang="es-CO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0AB769A-230C-4028-8196-0D0030FE7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29" y="3200400"/>
            <a:ext cx="5098681" cy="2682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3000" dirty="0"/>
              <a:t>En JavaScript, </a:t>
            </a:r>
          </a:p>
          <a:p>
            <a:pPr marL="0" indent="0">
              <a:buNone/>
            </a:pPr>
            <a:r>
              <a:rPr lang="es-MX" sz="3000" dirty="0" err="1"/>
              <a:t>function</a:t>
            </a:r>
            <a:r>
              <a:rPr lang="es-MX" sz="3000" dirty="0"/>
              <a:t> saludar(nombre) {</a:t>
            </a:r>
          </a:p>
          <a:p>
            <a:pPr marL="0" indent="0">
              <a:buNone/>
            </a:pPr>
            <a:r>
              <a:rPr lang="es-MX" sz="3000" dirty="0"/>
              <a:t>  </a:t>
            </a:r>
            <a:r>
              <a:rPr lang="es-MX" sz="3000" dirty="0" err="1"/>
              <a:t>return</a:t>
            </a:r>
            <a:r>
              <a:rPr lang="es-MX" sz="3000" dirty="0"/>
              <a:t> "Hola " + nombre</a:t>
            </a:r>
          </a:p>
          <a:p>
            <a:pPr marL="0" indent="0">
              <a:buNone/>
            </a:pPr>
            <a:r>
              <a:rPr lang="es-MX" sz="3000" dirty="0"/>
              <a:t>}</a:t>
            </a:r>
          </a:p>
          <a:p>
            <a:pPr marL="0" indent="0">
              <a:buNone/>
            </a:pPr>
            <a:r>
              <a:rPr lang="es-MX" sz="3000" b="1" dirty="0">
                <a:solidFill>
                  <a:schemeClr val="accent1"/>
                </a:solidFill>
              </a:rPr>
              <a:t>nombre</a:t>
            </a:r>
            <a:r>
              <a:rPr lang="es-MX" sz="3000" dirty="0"/>
              <a:t> es un parámetro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59DDFCE-477B-440E-A37A-145AED623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3243" y="3200400"/>
            <a:ext cx="5181312" cy="21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3000" dirty="0"/>
              <a:t>En </a:t>
            </a:r>
            <a:r>
              <a:rPr lang="es-MX" sz="3000" dirty="0" err="1"/>
              <a:t>React</a:t>
            </a:r>
            <a:r>
              <a:rPr lang="es-MX" sz="3000" dirty="0"/>
              <a:t>,</a:t>
            </a:r>
          </a:p>
          <a:p>
            <a:pPr marL="0" indent="0">
              <a:buNone/>
            </a:pPr>
            <a:r>
              <a:rPr lang="en-US" sz="3000" dirty="0"/>
              <a:t>&lt;</a:t>
            </a:r>
            <a:r>
              <a:rPr lang="en-US" sz="3000" dirty="0" err="1"/>
              <a:t>ProductCard</a:t>
            </a:r>
            <a:r>
              <a:rPr lang="en-US" sz="3000" dirty="0"/>
              <a:t> title="Laptop" /&gt;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s-MX" sz="3000" b="1" dirty="0" err="1">
                <a:solidFill>
                  <a:schemeClr val="accent1"/>
                </a:solidFill>
              </a:rPr>
              <a:t>title</a:t>
            </a:r>
            <a:r>
              <a:rPr lang="es-MX" sz="3000" dirty="0"/>
              <a:t> es una </a:t>
            </a:r>
            <a:r>
              <a:rPr lang="es-MX" sz="3000" dirty="0" err="1"/>
              <a:t>prop</a:t>
            </a:r>
            <a:endParaRPr lang="es-MX" sz="3000" dirty="0"/>
          </a:p>
        </p:txBody>
      </p:sp>
    </p:spTree>
    <p:extLst>
      <p:ext uri="{BB962C8B-B14F-4D97-AF65-F5344CB8AC3E}">
        <p14:creationId xmlns:p14="http://schemas.microsoft.com/office/powerpoint/2010/main" val="2763721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6. </a:t>
            </a:r>
            <a:r>
              <a:rPr lang="es-CO" sz="4800" dirty="0"/>
              <a:t>Cómo funciona?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0AB769A-230C-4028-8196-0D0030FE7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46127"/>
            <a:ext cx="4580965" cy="3098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3000" dirty="0"/>
              <a:t>En </a:t>
            </a:r>
            <a:r>
              <a:rPr lang="es-MX" sz="3000" dirty="0" err="1"/>
              <a:t>Apps.jsx</a:t>
            </a:r>
            <a:r>
              <a:rPr lang="es-MX" sz="3000" dirty="0"/>
              <a:t> (quien envía)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3000" dirty="0"/>
          </a:p>
          <a:p>
            <a:pPr marL="0" indent="0">
              <a:buNone/>
            </a:pPr>
            <a:r>
              <a:rPr lang="en-US" sz="3000" dirty="0"/>
              <a:t>&lt;</a:t>
            </a:r>
            <a:r>
              <a:rPr lang="en-US" sz="3000" dirty="0" err="1"/>
              <a:t>ProductCard</a:t>
            </a:r>
            <a:r>
              <a:rPr lang="en-US" sz="3000" dirty="0"/>
              <a:t> title="Laptop" price={2000} /&gt;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s-MX" sz="3000" b="1" dirty="0">
                <a:solidFill>
                  <a:schemeClr val="accent1"/>
                </a:solidFill>
              </a:rPr>
              <a:t>Está enviando datos</a:t>
            </a:r>
            <a:endParaRPr lang="es-MX" sz="30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59DDFCE-477B-440E-A37A-145AED623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310" y="1439899"/>
            <a:ext cx="5450245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3000" dirty="0"/>
              <a:t>En </a:t>
            </a:r>
            <a:r>
              <a:rPr lang="es-MX" sz="3000" dirty="0" err="1"/>
              <a:t>ProductCard.jsx</a:t>
            </a:r>
            <a:r>
              <a:rPr lang="es-MX" sz="3000" dirty="0"/>
              <a:t> (quien recibe)</a:t>
            </a:r>
          </a:p>
          <a:p>
            <a:pPr marL="0" indent="0">
              <a:buNone/>
            </a:pPr>
            <a:r>
              <a:rPr lang="en-US" sz="3000" dirty="0"/>
              <a:t>function </a:t>
            </a:r>
            <a:r>
              <a:rPr lang="en-US" sz="3000" dirty="0" err="1"/>
              <a:t>ProductCard</a:t>
            </a:r>
            <a:r>
              <a:rPr lang="en-US" sz="3000" dirty="0"/>
              <a:t>({ title, price }) { return (</a:t>
            </a:r>
          </a:p>
          <a:p>
            <a:pPr marL="0" indent="0">
              <a:buNone/>
            </a:pPr>
            <a:r>
              <a:rPr lang="en-US" sz="3000" dirty="0"/>
              <a:t>    &lt;div&gt;</a:t>
            </a:r>
          </a:p>
          <a:p>
            <a:pPr marL="0" indent="0">
              <a:buNone/>
            </a:pPr>
            <a:r>
              <a:rPr lang="en-US" sz="3000" dirty="0"/>
              <a:t>      &lt;h3&gt;{title}&lt;/h3&gt;</a:t>
            </a:r>
          </a:p>
          <a:p>
            <a:pPr marL="0" indent="0">
              <a:buNone/>
            </a:pPr>
            <a:r>
              <a:rPr lang="en-US" sz="3000" dirty="0"/>
              <a:t>      &lt;p&gt;${price}&lt;/p&gt;</a:t>
            </a:r>
          </a:p>
          <a:p>
            <a:pPr marL="0" indent="0">
              <a:buNone/>
            </a:pPr>
            <a:r>
              <a:rPr lang="en-US" sz="3000" dirty="0"/>
              <a:t>    &lt;/div&gt; ) }</a:t>
            </a:r>
          </a:p>
          <a:p>
            <a:pPr marL="0" indent="0">
              <a:buNone/>
            </a:pPr>
            <a:r>
              <a:rPr lang="es-MX" sz="3000" b="1" dirty="0">
                <a:solidFill>
                  <a:schemeClr val="accent1"/>
                </a:solidFill>
              </a:rPr>
              <a:t>Está usando esos datos</a:t>
            </a:r>
            <a:endParaRPr lang="es-MX" sz="3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DDEF24-7DCE-4962-9BE7-29A8DCB9391E}"/>
              </a:ext>
            </a:extLst>
          </p:cNvPr>
          <p:cNvSpPr txBox="1"/>
          <p:nvPr/>
        </p:nvSpPr>
        <p:spPr>
          <a:xfrm>
            <a:off x="1066033" y="5788436"/>
            <a:ext cx="100599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000" b="1" dirty="0" err="1"/>
              <a:t>App.jsx</a:t>
            </a:r>
            <a:r>
              <a:rPr lang="es-CO" sz="3000" b="1" dirty="0"/>
              <a:t>  →  envía datos  →  </a:t>
            </a:r>
            <a:r>
              <a:rPr lang="es-CO" sz="3000" b="1" dirty="0" err="1"/>
              <a:t>ProductCard.jsx</a:t>
            </a:r>
            <a:r>
              <a:rPr lang="es-CO" sz="3000" b="1" dirty="0"/>
              <a:t>  →  muestra datos</a:t>
            </a:r>
          </a:p>
        </p:txBody>
      </p:sp>
    </p:spTree>
    <p:extLst>
      <p:ext uri="{BB962C8B-B14F-4D97-AF65-F5344CB8AC3E}">
        <p14:creationId xmlns:p14="http://schemas.microsoft.com/office/powerpoint/2010/main" val="2563860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6. </a:t>
            </a:r>
            <a:r>
              <a:rPr lang="es-CO" sz="4800" dirty="0"/>
              <a:t>Opción 1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E4FA8-646B-49D5-B0E9-738D2897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917"/>
            <a:ext cx="10515600" cy="50560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3000" dirty="0"/>
              <a:t>Modificar el componente </a:t>
            </a:r>
            <a:r>
              <a:rPr lang="es-CO" sz="3000" dirty="0" err="1"/>
              <a:t>ProductCard</a:t>
            </a:r>
            <a:endParaRPr lang="es-CO" sz="3000" dirty="0"/>
          </a:p>
          <a:p>
            <a:pPr marL="0" indent="0">
              <a:buNone/>
            </a:pPr>
            <a:r>
              <a:rPr lang="es-CO" sz="3000" dirty="0"/>
              <a:t>Ingresar a </a:t>
            </a:r>
            <a:r>
              <a:rPr lang="es-CO" sz="3000" dirty="0" err="1"/>
              <a:t>src</a:t>
            </a:r>
            <a:r>
              <a:rPr lang="es-CO" sz="3000" dirty="0"/>
              <a:t>/</a:t>
            </a:r>
            <a:r>
              <a:rPr lang="es-CO" sz="3000" dirty="0" err="1"/>
              <a:t>components</a:t>
            </a:r>
            <a:r>
              <a:rPr lang="es-CO" sz="3000" dirty="0"/>
              <a:t>/</a:t>
            </a:r>
            <a:r>
              <a:rPr lang="es-CO" sz="3000" dirty="0" err="1"/>
              <a:t>ProductCard.jsx</a:t>
            </a:r>
            <a:r>
              <a:rPr lang="es-CO" sz="3000" dirty="0"/>
              <a:t> y cambiar la función para recibir </a:t>
            </a:r>
            <a:r>
              <a:rPr lang="es-CO" sz="3000" dirty="0" err="1"/>
              <a:t>props</a:t>
            </a:r>
            <a:endParaRPr lang="es-CO" sz="3000" dirty="0"/>
          </a:p>
          <a:p>
            <a:pPr marL="0" indent="0">
              <a:buNone/>
            </a:pPr>
            <a:r>
              <a:rPr lang="es-CO" dirty="0" err="1"/>
              <a:t>function</a:t>
            </a:r>
            <a:r>
              <a:rPr lang="es-CO" dirty="0"/>
              <a:t> </a:t>
            </a:r>
            <a:r>
              <a:rPr lang="es-CO" dirty="0" err="1"/>
              <a:t>ProductCard</a:t>
            </a:r>
            <a:r>
              <a:rPr lang="es-CO" dirty="0"/>
              <a:t>(</a:t>
            </a:r>
            <a:r>
              <a:rPr lang="es-CO" dirty="0" err="1"/>
              <a:t>props</a:t>
            </a:r>
            <a:r>
              <a:rPr lang="es-CO" dirty="0"/>
              <a:t>) {</a:t>
            </a:r>
          </a:p>
          <a:p>
            <a:pPr marL="0" indent="0">
              <a:buNone/>
            </a:pPr>
            <a:r>
              <a:rPr lang="es-CO" dirty="0"/>
              <a:t>  </a:t>
            </a:r>
            <a:r>
              <a:rPr lang="es-CO" dirty="0" err="1"/>
              <a:t>return</a:t>
            </a:r>
            <a:r>
              <a:rPr lang="es-CO" dirty="0"/>
              <a:t> (</a:t>
            </a:r>
          </a:p>
          <a:p>
            <a:pPr marL="0" indent="0">
              <a:buNone/>
            </a:pPr>
            <a:r>
              <a:rPr lang="es-CO" dirty="0"/>
              <a:t>    &lt;</a:t>
            </a:r>
            <a:r>
              <a:rPr lang="es-CO" dirty="0" err="1"/>
              <a:t>div</a:t>
            </a:r>
            <a:r>
              <a:rPr lang="es-CO" dirty="0"/>
              <a:t>&gt;</a:t>
            </a:r>
          </a:p>
          <a:p>
            <a:pPr marL="0" indent="0">
              <a:buNone/>
            </a:pPr>
            <a:r>
              <a:rPr lang="es-CO" dirty="0"/>
              <a:t>      &lt;h3&gt;{</a:t>
            </a:r>
            <a:r>
              <a:rPr lang="es-CO" dirty="0" err="1"/>
              <a:t>props.title</a:t>
            </a:r>
            <a:r>
              <a:rPr lang="es-CO" dirty="0"/>
              <a:t>}&lt;/h3&gt;</a:t>
            </a:r>
          </a:p>
          <a:p>
            <a:pPr marL="0" indent="0">
              <a:buNone/>
            </a:pPr>
            <a:r>
              <a:rPr lang="es-CO" dirty="0"/>
              <a:t>      &lt;p&gt;${</a:t>
            </a:r>
            <a:r>
              <a:rPr lang="es-CO" dirty="0" err="1"/>
              <a:t>props.price</a:t>
            </a:r>
            <a:r>
              <a:rPr lang="es-CO" dirty="0"/>
              <a:t>}&lt;/p&gt;</a:t>
            </a:r>
          </a:p>
          <a:p>
            <a:pPr marL="0" indent="0">
              <a:buNone/>
            </a:pPr>
            <a:r>
              <a:rPr lang="es-CO" dirty="0"/>
              <a:t>    &lt;/</a:t>
            </a:r>
            <a:r>
              <a:rPr lang="es-CO" dirty="0" err="1"/>
              <a:t>div</a:t>
            </a:r>
            <a:r>
              <a:rPr lang="es-CO" dirty="0"/>
              <a:t>&gt; ) }</a:t>
            </a:r>
          </a:p>
          <a:p>
            <a:pPr marL="0" indent="0">
              <a:buNone/>
            </a:pPr>
            <a:r>
              <a:rPr lang="es-CO" dirty="0" err="1"/>
              <a:t>export</a:t>
            </a:r>
            <a:r>
              <a:rPr lang="es-CO" dirty="0"/>
              <a:t> default </a:t>
            </a:r>
            <a:r>
              <a:rPr lang="es-CO" dirty="0" err="1"/>
              <a:t>ProductCard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60763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6. </a:t>
            </a:r>
            <a:r>
              <a:rPr lang="es-CO" sz="4800" dirty="0"/>
              <a:t>Opción 2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E4FA8-646B-49D5-B0E9-738D2897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410"/>
            <a:ext cx="5710518" cy="41954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dirty="0" err="1"/>
              <a:t>function</a:t>
            </a:r>
            <a:r>
              <a:rPr lang="es-CO" dirty="0"/>
              <a:t> </a:t>
            </a:r>
            <a:r>
              <a:rPr lang="es-CO" dirty="0" err="1"/>
              <a:t>ProductCard</a:t>
            </a:r>
            <a:r>
              <a:rPr lang="es-CO" dirty="0"/>
              <a:t>({ </a:t>
            </a:r>
            <a:r>
              <a:rPr lang="es-CO" dirty="0" err="1"/>
              <a:t>title</a:t>
            </a:r>
            <a:r>
              <a:rPr lang="es-CO" dirty="0"/>
              <a:t>, </a:t>
            </a:r>
            <a:r>
              <a:rPr lang="es-CO" dirty="0" err="1"/>
              <a:t>price</a:t>
            </a:r>
            <a:r>
              <a:rPr lang="es-CO" dirty="0"/>
              <a:t> }) {</a:t>
            </a:r>
          </a:p>
          <a:p>
            <a:pPr marL="0" indent="0">
              <a:buNone/>
            </a:pPr>
            <a:r>
              <a:rPr lang="es-CO" dirty="0"/>
              <a:t>  </a:t>
            </a:r>
            <a:r>
              <a:rPr lang="es-CO" dirty="0" err="1"/>
              <a:t>return</a:t>
            </a:r>
            <a:r>
              <a:rPr lang="es-CO" dirty="0"/>
              <a:t> (</a:t>
            </a:r>
          </a:p>
          <a:p>
            <a:pPr marL="0" indent="0">
              <a:buNone/>
            </a:pPr>
            <a:r>
              <a:rPr lang="es-CO" dirty="0"/>
              <a:t>    &lt;</a:t>
            </a:r>
            <a:r>
              <a:rPr lang="es-CO" dirty="0" err="1"/>
              <a:t>div</a:t>
            </a:r>
            <a:r>
              <a:rPr lang="es-CO" dirty="0"/>
              <a:t>&gt;</a:t>
            </a:r>
          </a:p>
          <a:p>
            <a:pPr marL="0" indent="0">
              <a:buNone/>
            </a:pPr>
            <a:r>
              <a:rPr lang="es-CO" dirty="0"/>
              <a:t>      &lt;h3&gt;{</a:t>
            </a:r>
            <a:r>
              <a:rPr lang="es-CO" dirty="0" err="1"/>
              <a:t>title</a:t>
            </a:r>
            <a:r>
              <a:rPr lang="es-CO" dirty="0"/>
              <a:t>}&lt;/h3&gt;</a:t>
            </a:r>
          </a:p>
          <a:p>
            <a:pPr marL="0" indent="0">
              <a:buNone/>
            </a:pPr>
            <a:r>
              <a:rPr lang="es-CO" dirty="0"/>
              <a:t>      &lt;p&gt;${</a:t>
            </a:r>
            <a:r>
              <a:rPr lang="es-CO" dirty="0" err="1"/>
              <a:t>price</a:t>
            </a:r>
            <a:r>
              <a:rPr lang="es-CO" dirty="0"/>
              <a:t>}&lt;/p&gt;</a:t>
            </a:r>
          </a:p>
          <a:p>
            <a:pPr marL="0" indent="0">
              <a:buNone/>
            </a:pPr>
            <a:r>
              <a:rPr lang="es-CO" dirty="0"/>
              <a:t>    &lt;/</a:t>
            </a:r>
            <a:r>
              <a:rPr lang="es-CO" dirty="0" err="1"/>
              <a:t>div</a:t>
            </a:r>
            <a:r>
              <a:rPr lang="es-CO" dirty="0"/>
              <a:t>&gt;</a:t>
            </a:r>
          </a:p>
          <a:p>
            <a:pPr marL="0" indent="0">
              <a:buNone/>
            </a:pPr>
            <a:r>
              <a:rPr lang="es-CO" dirty="0"/>
              <a:t>  )</a:t>
            </a:r>
          </a:p>
          <a:p>
            <a:pPr marL="0" indent="0">
              <a:buNone/>
            </a:pPr>
            <a:r>
              <a:rPr lang="es-CO" dirty="0"/>
              <a:t>}</a:t>
            </a:r>
          </a:p>
        </p:txBody>
      </p:sp>
      <p:sp>
        <p:nvSpPr>
          <p:cNvPr id="8" name="Marcador de contenido 5">
            <a:extLst>
              <a:ext uri="{FF2B5EF4-FFF2-40B4-BE49-F238E27FC236}">
                <a16:creationId xmlns:a16="http://schemas.microsoft.com/office/drawing/2014/main" id="{956BA4CD-B086-468D-BC8C-EF7493556C10}"/>
              </a:ext>
            </a:extLst>
          </p:cNvPr>
          <p:cNvSpPr txBox="1">
            <a:spLocks/>
          </p:cNvSpPr>
          <p:nvPr/>
        </p:nvSpPr>
        <p:spPr>
          <a:xfrm>
            <a:off x="7330131" y="2528046"/>
            <a:ext cx="3884423" cy="2232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3200" dirty="0"/>
              <a:t>Esto es equivalente a:</a:t>
            </a:r>
          </a:p>
          <a:p>
            <a:pPr marL="0" indent="0">
              <a:buNone/>
            </a:pPr>
            <a:r>
              <a:rPr lang="es-CO" sz="3200" dirty="0" err="1"/>
              <a:t>props.title</a:t>
            </a:r>
            <a:endParaRPr lang="es-CO" sz="3200" dirty="0"/>
          </a:p>
          <a:p>
            <a:pPr marL="0" indent="0">
              <a:buNone/>
            </a:pPr>
            <a:r>
              <a:rPr lang="es-CO" sz="3200" dirty="0" err="1"/>
              <a:t>props.price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1472603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6. </a:t>
            </a:r>
            <a:r>
              <a:rPr lang="es-CO" sz="4800" dirty="0"/>
              <a:t>Enviar datos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4E0C9A-BD4E-4499-A0A0-052A055B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570" y="1297640"/>
            <a:ext cx="8036859" cy="5156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3200" dirty="0"/>
              <a:t>En el archivo </a:t>
            </a:r>
            <a:r>
              <a:rPr lang="es-CO" sz="3200" dirty="0" err="1"/>
              <a:t>src</a:t>
            </a:r>
            <a:r>
              <a:rPr lang="es-CO" sz="3200" dirty="0"/>
              <a:t>/</a:t>
            </a:r>
            <a:r>
              <a:rPr lang="es-CO" sz="3200" dirty="0" err="1"/>
              <a:t>App.jsx</a:t>
            </a:r>
            <a:r>
              <a:rPr lang="es-CO" sz="3200" dirty="0"/>
              <a:t>, se cambia</a:t>
            </a:r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r>
              <a:rPr lang="es-CO" sz="3200" dirty="0"/>
              <a:t>&lt;</a:t>
            </a:r>
            <a:r>
              <a:rPr lang="es-CO" sz="3200" dirty="0" err="1"/>
              <a:t>ProductCard</a:t>
            </a:r>
            <a:r>
              <a:rPr lang="es-CO" sz="3200" dirty="0"/>
              <a:t> /&gt;</a:t>
            </a:r>
          </a:p>
          <a:p>
            <a:pPr marL="0" indent="0">
              <a:buNone/>
            </a:pPr>
            <a:r>
              <a:rPr lang="es-CO" sz="3200" dirty="0"/>
              <a:t>&lt;</a:t>
            </a:r>
            <a:r>
              <a:rPr lang="es-CO" sz="3200" dirty="0" err="1"/>
              <a:t>ProductCard</a:t>
            </a:r>
            <a:r>
              <a:rPr lang="es-CO" sz="3200" dirty="0"/>
              <a:t> /&gt;</a:t>
            </a:r>
          </a:p>
          <a:p>
            <a:pPr marL="0" indent="0">
              <a:buNone/>
            </a:pPr>
            <a:r>
              <a:rPr lang="es-CO" sz="3200" dirty="0"/>
              <a:t>&lt;</a:t>
            </a:r>
            <a:r>
              <a:rPr lang="es-CO" sz="3200" dirty="0" err="1"/>
              <a:t>ProductCard</a:t>
            </a:r>
            <a:r>
              <a:rPr lang="es-CO" sz="3200" dirty="0"/>
              <a:t> /&gt;, por</a:t>
            </a:r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r>
              <a:rPr lang="en-US" sz="3200" b="1" dirty="0"/>
              <a:t>&lt;</a:t>
            </a:r>
            <a:r>
              <a:rPr lang="en-US" sz="3200" b="1" dirty="0" err="1"/>
              <a:t>ProductCard</a:t>
            </a:r>
            <a:r>
              <a:rPr lang="en-US" sz="3200" b="1" dirty="0"/>
              <a:t> title="Laptop" price={2000} /&gt;</a:t>
            </a:r>
          </a:p>
          <a:p>
            <a:pPr marL="0" indent="0">
              <a:buNone/>
            </a:pPr>
            <a:r>
              <a:rPr lang="en-US" sz="3200" b="1" dirty="0"/>
              <a:t>&lt;</a:t>
            </a:r>
            <a:r>
              <a:rPr lang="en-US" sz="3200" b="1" dirty="0" err="1"/>
              <a:t>ProductCard</a:t>
            </a:r>
            <a:r>
              <a:rPr lang="en-US" sz="3200" b="1" dirty="0"/>
              <a:t> title="Mouse" price={50} /&gt;</a:t>
            </a:r>
          </a:p>
          <a:p>
            <a:pPr marL="0" indent="0">
              <a:buNone/>
            </a:pPr>
            <a:r>
              <a:rPr lang="en-US" sz="3200" b="1" dirty="0"/>
              <a:t>&lt;</a:t>
            </a:r>
            <a:r>
              <a:rPr lang="en-US" sz="3200" b="1" dirty="0" err="1"/>
              <a:t>ProductCard</a:t>
            </a:r>
            <a:r>
              <a:rPr lang="en-US" sz="3200" b="1" dirty="0"/>
              <a:t> title="</a:t>
            </a:r>
            <a:r>
              <a:rPr lang="en-US" sz="3200" b="1" dirty="0" err="1"/>
              <a:t>Teclado</a:t>
            </a:r>
            <a:r>
              <a:rPr lang="en-US" sz="3200" b="1" dirty="0"/>
              <a:t>" price={100} /&gt;</a:t>
            </a:r>
            <a:endParaRPr lang="es-CO" sz="3200" b="1" dirty="0"/>
          </a:p>
        </p:txBody>
      </p:sp>
    </p:spTree>
    <p:extLst>
      <p:ext uri="{BB962C8B-B14F-4D97-AF65-F5344CB8AC3E}">
        <p14:creationId xmlns:p14="http://schemas.microsoft.com/office/powerpoint/2010/main" val="1618392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6. </a:t>
            </a:r>
            <a:r>
              <a:rPr lang="es-CO" sz="4800" dirty="0"/>
              <a:t>Opción 2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E4FA8-646B-49D5-B0E9-738D2897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410"/>
            <a:ext cx="5710518" cy="41954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dirty="0" err="1"/>
              <a:t>function</a:t>
            </a:r>
            <a:r>
              <a:rPr lang="es-CO" dirty="0"/>
              <a:t> </a:t>
            </a:r>
            <a:r>
              <a:rPr lang="es-CO" dirty="0" err="1"/>
              <a:t>ProductCard</a:t>
            </a:r>
            <a:r>
              <a:rPr lang="es-CO" dirty="0"/>
              <a:t>({ </a:t>
            </a:r>
            <a:r>
              <a:rPr lang="es-CO" dirty="0" err="1"/>
              <a:t>title</a:t>
            </a:r>
            <a:r>
              <a:rPr lang="es-CO" dirty="0"/>
              <a:t>, </a:t>
            </a:r>
            <a:r>
              <a:rPr lang="es-CO" dirty="0" err="1"/>
              <a:t>price</a:t>
            </a:r>
            <a:r>
              <a:rPr lang="es-CO" dirty="0"/>
              <a:t> }) {</a:t>
            </a:r>
          </a:p>
          <a:p>
            <a:pPr marL="0" indent="0">
              <a:buNone/>
            </a:pPr>
            <a:r>
              <a:rPr lang="es-CO" dirty="0"/>
              <a:t>  </a:t>
            </a:r>
            <a:r>
              <a:rPr lang="es-CO" dirty="0" err="1"/>
              <a:t>return</a:t>
            </a:r>
            <a:r>
              <a:rPr lang="es-CO" dirty="0"/>
              <a:t> (</a:t>
            </a:r>
          </a:p>
          <a:p>
            <a:pPr marL="0" indent="0">
              <a:buNone/>
            </a:pPr>
            <a:r>
              <a:rPr lang="es-CO" dirty="0"/>
              <a:t>    &lt;</a:t>
            </a:r>
            <a:r>
              <a:rPr lang="es-CO" dirty="0" err="1"/>
              <a:t>div</a:t>
            </a:r>
            <a:r>
              <a:rPr lang="es-CO" dirty="0"/>
              <a:t>&gt;</a:t>
            </a:r>
          </a:p>
          <a:p>
            <a:pPr marL="0" indent="0">
              <a:buNone/>
            </a:pPr>
            <a:r>
              <a:rPr lang="es-CO" dirty="0"/>
              <a:t>      &lt;h3&gt;{</a:t>
            </a:r>
            <a:r>
              <a:rPr lang="es-CO" dirty="0" err="1"/>
              <a:t>title</a:t>
            </a:r>
            <a:r>
              <a:rPr lang="es-CO" dirty="0"/>
              <a:t>}&lt;/h3&gt;</a:t>
            </a:r>
          </a:p>
          <a:p>
            <a:pPr marL="0" indent="0">
              <a:buNone/>
            </a:pPr>
            <a:r>
              <a:rPr lang="es-CO" dirty="0"/>
              <a:t>      &lt;p&gt;${</a:t>
            </a:r>
            <a:r>
              <a:rPr lang="es-CO" dirty="0" err="1"/>
              <a:t>price</a:t>
            </a:r>
            <a:r>
              <a:rPr lang="es-CO" dirty="0"/>
              <a:t>}&lt;/p&gt;</a:t>
            </a:r>
          </a:p>
          <a:p>
            <a:pPr marL="0" indent="0">
              <a:buNone/>
            </a:pPr>
            <a:r>
              <a:rPr lang="es-CO" dirty="0"/>
              <a:t>    &lt;/</a:t>
            </a:r>
            <a:r>
              <a:rPr lang="es-CO" dirty="0" err="1"/>
              <a:t>div</a:t>
            </a:r>
            <a:r>
              <a:rPr lang="es-CO" dirty="0"/>
              <a:t>&gt;</a:t>
            </a:r>
          </a:p>
          <a:p>
            <a:pPr marL="0" indent="0">
              <a:buNone/>
            </a:pPr>
            <a:r>
              <a:rPr lang="es-CO" dirty="0"/>
              <a:t>  )</a:t>
            </a:r>
          </a:p>
          <a:p>
            <a:pPr marL="0" indent="0">
              <a:buNone/>
            </a:pPr>
            <a:r>
              <a:rPr lang="es-CO" dirty="0"/>
              <a:t>}</a:t>
            </a:r>
          </a:p>
        </p:txBody>
      </p:sp>
      <p:sp>
        <p:nvSpPr>
          <p:cNvPr id="8" name="Marcador de contenido 5">
            <a:extLst>
              <a:ext uri="{FF2B5EF4-FFF2-40B4-BE49-F238E27FC236}">
                <a16:creationId xmlns:a16="http://schemas.microsoft.com/office/drawing/2014/main" id="{956BA4CD-B086-468D-BC8C-EF7493556C10}"/>
              </a:ext>
            </a:extLst>
          </p:cNvPr>
          <p:cNvSpPr txBox="1">
            <a:spLocks/>
          </p:cNvSpPr>
          <p:nvPr/>
        </p:nvSpPr>
        <p:spPr>
          <a:xfrm>
            <a:off x="7330131" y="2528046"/>
            <a:ext cx="3884423" cy="2232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3200" dirty="0"/>
              <a:t>Esto es equivalente a:</a:t>
            </a:r>
          </a:p>
          <a:p>
            <a:pPr marL="0" indent="0">
              <a:buNone/>
            </a:pPr>
            <a:r>
              <a:rPr lang="es-CO" sz="3200" dirty="0" err="1"/>
              <a:t>props.title</a:t>
            </a:r>
            <a:endParaRPr lang="es-CO" sz="3200" dirty="0"/>
          </a:p>
          <a:p>
            <a:pPr marL="0" indent="0">
              <a:buNone/>
            </a:pPr>
            <a:r>
              <a:rPr lang="es-CO" sz="3200" dirty="0" err="1"/>
              <a:t>props.price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767570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7. Primer </a:t>
            </a:r>
            <a:r>
              <a:rPr lang="es-CO" sz="4800" b="1" dirty="0" err="1"/>
              <a:t>commit</a:t>
            </a:r>
            <a:r>
              <a:rPr lang="es-CO" sz="4800" b="1" dirty="0"/>
              <a:t> en Git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0B0999A6-A918-4EE2-9CA1-06FA3B838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9140" y="2274838"/>
            <a:ext cx="92537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s-MX" sz="4000" dirty="0" err="1"/>
              <a:t>git</a:t>
            </a:r>
            <a:r>
              <a:rPr lang="es-MX" sz="4000" dirty="0"/>
              <a:t> </a:t>
            </a:r>
            <a:r>
              <a:rPr lang="es-MX" sz="4000" dirty="0" err="1"/>
              <a:t>init</a:t>
            </a:r>
            <a:br>
              <a:rPr lang="es-MX" sz="4000" dirty="0"/>
            </a:br>
            <a:r>
              <a:rPr lang="es-MX" sz="4000" dirty="0" err="1"/>
              <a:t>git</a:t>
            </a:r>
            <a:r>
              <a:rPr lang="es-MX" sz="4000" dirty="0"/>
              <a:t> </a:t>
            </a:r>
            <a:r>
              <a:rPr lang="es-MX" sz="4000" dirty="0" err="1"/>
              <a:t>add</a:t>
            </a:r>
            <a:r>
              <a:rPr lang="es-MX" sz="4000" dirty="0"/>
              <a:t> .</a:t>
            </a:r>
            <a:br>
              <a:rPr lang="es-MX" sz="4000" dirty="0"/>
            </a:br>
            <a:r>
              <a:rPr lang="es-MX" sz="4000" dirty="0" err="1"/>
              <a:t>git</a:t>
            </a:r>
            <a:r>
              <a:rPr lang="es-MX" sz="4000" dirty="0"/>
              <a:t> </a:t>
            </a:r>
            <a:r>
              <a:rPr lang="es-MX" sz="4000" dirty="0" err="1"/>
              <a:t>commit</a:t>
            </a:r>
            <a:r>
              <a:rPr lang="es-MX" sz="4000" dirty="0"/>
              <a:t> -m "Sesión 1: Base del proyecto y primeros componentes"</a:t>
            </a:r>
          </a:p>
        </p:txBody>
      </p:sp>
    </p:spTree>
    <p:extLst>
      <p:ext uri="{BB962C8B-B14F-4D97-AF65-F5344CB8AC3E}">
        <p14:creationId xmlns:p14="http://schemas.microsoft.com/office/powerpoint/2010/main" val="1712652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8. Actividad en clase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0B0999A6-A918-4EE2-9CA1-06FA3B838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9140" y="2828836"/>
            <a:ext cx="92537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s-MX" sz="4000" dirty="0"/>
              <a:t>👉 Crear 3 productos distintos</a:t>
            </a:r>
            <a:br>
              <a:rPr lang="es-MX" sz="4000" dirty="0"/>
            </a:br>
            <a:r>
              <a:rPr lang="es-MX" sz="4000" dirty="0"/>
              <a:t>👉 Agregar un botón “Comprar”</a:t>
            </a:r>
          </a:p>
        </p:txBody>
      </p:sp>
    </p:spTree>
    <p:extLst>
      <p:ext uri="{BB962C8B-B14F-4D97-AF65-F5344CB8AC3E}">
        <p14:creationId xmlns:p14="http://schemas.microsoft.com/office/powerpoint/2010/main" val="3295439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640" y="1638230"/>
            <a:ext cx="9792719" cy="41977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4000" b="1" dirty="0"/>
              <a:t>Objetivo de la sesión</a:t>
            </a:r>
          </a:p>
          <a:p>
            <a:pPr marL="0" indent="0">
              <a:buNone/>
            </a:pPr>
            <a:endParaRPr lang="es-MX" sz="4000" b="1" dirty="0"/>
          </a:p>
          <a:p>
            <a:r>
              <a:rPr lang="es-MX" sz="4000" dirty="0"/>
              <a:t>Pasar de datos estáticos → dinámicos </a:t>
            </a:r>
          </a:p>
          <a:p>
            <a:r>
              <a:rPr lang="es-MX" sz="4000" dirty="0"/>
              <a:t>Usar .</a:t>
            </a:r>
            <a:r>
              <a:rPr lang="es-MX" sz="4000" dirty="0" err="1"/>
              <a:t>map</a:t>
            </a:r>
            <a:r>
              <a:rPr lang="es-MX" sz="4000" dirty="0"/>
              <a:t>() para renderizar listas</a:t>
            </a:r>
          </a:p>
          <a:p>
            <a:r>
              <a:rPr lang="es-MX" sz="4000" dirty="0"/>
              <a:t>Introducir </a:t>
            </a:r>
            <a:r>
              <a:rPr lang="es-MX" sz="4000" dirty="0" err="1"/>
              <a:t>useState</a:t>
            </a:r>
            <a:endParaRPr lang="es-MX" sz="4000" dirty="0"/>
          </a:p>
          <a:p>
            <a:r>
              <a:rPr lang="es-MX" sz="4000" dirty="0"/>
              <a:t>Preparar base para interacción (carrito en S3)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72" y="173389"/>
            <a:ext cx="10154159" cy="885825"/>
          </a:xfrm>
        </p:spPr>
        <p:txBody>
          <a:bodyPr>
            <a:normAutofit fontScale="90000"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SESIÓN 2 – Render dinámico y estado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358" y="268722"/>
            <a:ext cx="80327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6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Crear estructura de datos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D6E53A-4BBC-4DBC-B194-D05A9A8B8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822" y="1642744"/>
            <a:ext cx="10376356" cy="47158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3200" dirty="0"/>
              <a:t>En </a:t>
            </a:r>
            <a:r>
              <a:rPr lang="es-MX" sz="3200" dirty="0" err="1"/>
              <a:t>App.jsx</a:t>
            </a:r>
            <a:r>
              <a:rPr lang="es-MX" sz="3200" dirty="0"/>
              <a:t>. </a:t>
            </a:r>
          </a:p>
          <a:p>
            <a:pPr marL="0" indent="0">
              <a:buNone/>
            </a:pPr>
            <a:r>
              <a:rPr lang="es-MX" sz="3200" dirty="0"/>
              <a:t>Crear arreglo de productos, encima del </a:t>
            </a:r>
            <a:r>
              <a:rPr lang="es-MX" sz="3200" dirty="0" err="1"/>
              <a:t>return</a:t>
            </a:r>
            <a:r>
              <a:rPr lang="es-MX" sz="3200" dirty="0"/>
              <a:t>:</a:t>
            </a:r>
            <a:endParaRPr lang="es-CO" sz="3200" dirty="0"/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CO" sz="2000" dirty="0"/>
          </a:p>
          <a:p>
            <a:pPr marL="0" indent="0">
              <a:buNone/>
            </a:pPr>
            <a:endParaRPr lang="es-CO" sz="2000" dirty="0"/>
          </a:p>
          <a:p>
            <a:pPr marL="0" indent="0">
              <a:buNone/>
            </a:pPr>
            <a:r>
              <a:rPr lang="es-MX" dirty="0"/>
              <a:t>👉 </a:t>
            </a:r>
            <a:r>
              <a:rPr lang="es-MX" sz="3200" dirty="0"/>
              <a:t>Ahora los datos están separados del diseño</a:t>
            </a:r>
          </a:p>
          <a:p>
            <a:pPr marL="0" indent="0">
              <a:buNone/>
            </a:pPr>
            <a:r>
              <a:rPr lang="es-MX" sz="3200" dirty="0"/>
              <a:t>👉 Esto es clave en </a:t>
            </a:r>
            <a:r>
              <a:rPr lang="es-MX" sz="3200" dirty="0" err="1"/>
              <a:t>React</a:t>
            </a:r>
            <a:endParaRPr lang="es-CO" sz="3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FD6FD00-99DB-4A60-8E94-DA4887D93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997" y="2653510"/>
            <a:ext cx="6764005" cy="216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14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Render dinámico con .</a:t>
            </a:r>
            <a:r>
              <a:rPr lang="es-CO" sz="4800" b="1" dirty="0" err="1"/>
              <a:t>map</a:t>
            </a:r>
            <a:r>
              <a:rPr lang="es-CO" sz="4800" b="1" dirty="0"/>
              <a:t>()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D6E53A-4BBC-4DBC-B194-D05A9A8B8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397" y="1364566"/>
            <a:ext cx="11057206" cy="5190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200" dirty="0"/>
              <a:t>Reemplazar</a:t>
            </a:r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r>
              <a:rPr lang="es-CO" sz="3200" dirty="0"/>
              <a:t>Por esto:</a:t>
            </a:r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MX" sz="3200" dirty="0"/>
          </a:p>
          <a:p>
            <a:pPr marL="0" indent="0">
              <a:buNone/>
            </a:pPr>
            <a:endParaRPr lang="es-MX" sz="32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68B9736-380E-4606-903E-777553971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970" y="1484670"/>
            <a:ext cx="7978495" cy="155395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D80FE2-B8A8-42A4-9571-FE5AF1384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05" y="3521110"/>
            <a:ext cx="5085117" cy="306948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2007C45-8A88-4A1F-985D-F43E86D4DD21}"/>
              </a:ext>
            </a:extLst>
          </p:cNvPr>
          <p:cNvSpPr txBox="1"/>
          <p:nvPr/>
        </p:nvSpPr>
        <p:spPr>
          <a:xfrm>
            <a:off x="5781822" y="3521110"/>
            <a:ext cx="58427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👉.</a:t>
            </a:r>
            <a:r>
              <a:rPr lang="es-MX" sz="3200" dirty="0" err="1"/>
              <a:t>map</a:t>
            </a:r>
            <a:r>
              <a:rPr lang="es-MX" sz="3200" dirty="0"/>
              <a:t>() recorre el arreglo</a:t>
            </a:r>
          </a:p>
          <a:p>
            <a:r>
              <a:rPr lang="es-MX" sz="3200" dirty="0"/>
              <a:t>👉 Por cada elemento → crea un componente</a:t>
            </a:r>
          </a:p>
          <a:p>
            <a:r>
              <a:rPr lang="es-MX" sz="3200" dirty="0"/>
              <a:t>👉 </a:t>
            </a:r>
            <a:r>
              <a:rPr lang="es-MX" sz="3200" dirty="0" err="1"/>
              <a:t>key</a:t>
            </a:r>
            <a:r>
              <a:rPr lang="es-MX" sz="3200" dirty="0"/>
              <a:t> ayuda a </a:t>
            </a:r>
            <a:r>
              <a:rPr lang="es-MX" sz="3200" dirty="0" err="1"/>
              <a:t>React</a:t>
            </a:r>
            <a:r>
              <a:rPr lang="es-MX" sz="3200" dirty="0"/>
              <a:t> a identificar elementos</a:t>
            </a:r>
            <a:endParaRPr lang="es-CO" sz="3200" dirty="0"/>
          </a:p>
          <a:p>
            <a:r>
              <a:rPr lang="es-MX" sz="3200" b="1" dirty="0">
                <a:solidFill>
                  <a:srgbClr val="FF0000"/>
                </a:solidFill>
              </a:rPr>
              <a:t>Agregue tres objetos más al array</a:t>
            </a:r>
            <a:endParaRPr lang="es-CO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8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9152965" cy="885825"/>
          </a:xfrm>
        </p:spPr>
        <p:txBody>
          <a:bodyPr>
            <a:normAutofit/>
          </a:bodyPr>
          <a:lstStyle/>
          <a:p>
            <a:r>
              <a:rPr lang="es-CO" sz="4800" b="1" dirty="0" err="1"/>
              <a:t>React</a:t>
            </a:r>
            <a:r>
              <a:rPr lang="es-CO" sz="4800" b="1" dirty="0"/>
              <a:t> – </a:t>
            </a:r>
            <a:r>
              <a:rPr lang="es-MX" sz="4800" b="1" dirty="0"/>
              <a:t>Introducción a </a:t>
            </a:r>
            <a:r>
              <a:rPr lang="es-MX" sz="4800" b="1" dirty="0" err="1"/>
              <a:t>useState</a:t>
            </a:r>
            <a:endParaRPr lang="es-CO" sz="48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8E5D29-D67C-46E1-BCC0-6A7B15B46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85" y="114299"/>
            <a:ext cx="803270" cy="720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D6E53A-4BBC-4DBC-B194-D05A9A8B8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822" y="1642744"/>
            <a:ext cx="10376356" cy="488466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1000" dirty="0"/>
          </a:p>
          <a:p>
            <a:pPr marL="0" indent="0">
              <a:buNone/>
            </a:pPr>
            <a:r>
              <a:rPr lang="es-MX" sz="3200" dirty="0"/>
              <a:t>Importar: en </a:t>
            </a:r>
            <a:r>
              <a:rPr lang="es-MX" sz="3200" dirty="0" err="1"/>
              <a:t>App.jsx</a:t>
            </a:r>
            <a:r>
              <a:rPr lang="es-MX" sz="3200" dirty="0"/>
              <a:t>, </a:t>
            </a:r>
          </a:p>
          <a:p>
            <a:pPr marL="0" indent="0">
              <a:buNone/>
            </a:pPr>
            <a:endParaRPr lang="es-CO" sz="1000" dirty="0"/>
          </a:p>
          <a:p>
            <a:pPr marL="0" indent="0">
              <a:buNone/>
            </a:pPr>
            <a:r>
              <a:rPr lang="es-CO" sz="3200" dirty="0"/>
              <a:t>Convertir </a:t>
            </a:r>
            <a:r>
              <a:rPr lang="es-CO" sz="3200" dirty="0" err="1"/>
              <a:t>products</a:t>
            </a:r>
            <a:r>
              <a:rPr lang="es-CO" sz="3200" dirty="0"/>
              <a:t> en estado</a:t>
            </a:r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endParaRPr lang="es-CO" sz="2000" dirty="0"/>
          </a:p>
          <a:p>
            <a:pPr marL="0" indent="0">
              <a:buNone/>
            </a:pPr>
            <a:endParaRPr lang="es-CO" sz="2000" dirty="0"/>
          </a:p>
          <a:p>
            <a:pPr marL="0" indent="0">
              <a:buNone/>
            </a:pPr>
            <a:r>
              <a:rPr lang="es-MX" sz="3200" dirty="0"/>
              <a:t>👉 </a:t>
            </a:r>
            <a:r>
              <a:rPr lang="es-MX" sz="3200" dirty="0" err="1"/>
              <a:t>products</a:t>
            </a:r>
            <a:r>
              <a:rPr lang="es-MX" sz="3200" dirty="0"/>
              <a:t> → valor actual</a:t>
            </a:r>
          </a:p>
          <a:p>
            <a:pPr marL="0" indent="0">
              <a:buNone/>
            </a:pPr>
            <a:r>
              <a:rPr lang="es-MX" sz="3200" dirty="0"/>
              <a:t>👉 </a:t>
            </a:r>
            <a:r>
              <a:rPr lang="es-MX" sz="3200" dirty="0" err="1"/>
              <a:t>setProducts</a:t>
            </a:r>
            <a:r>
              <a:rPr lang="es-MX" sz="3200" dirty="0"/>
              <a:t> → función para cambiarlo</a:t>
            </a:r>
            <a:endParaRPr lang="es-CO" sz="32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511553F-4C5A-44B3-8CCA-AEA90B74E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136" y="1892977"/>
            <a:ext cx="5696087" cy="61107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6FBCE89-89FE-45FA-8A39-720191D70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310" y="3312496"/>
            <a:ext cx="5864117" cy="181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56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541CDB6EC544B901621DD096179E2" ma:contentTypeVersion="13" ma:contentTypeDescription="Create a new document." ma:contentTypeScope="" ma:versionID="139a042f0fbe093629c7596a2ccd9816">
  <xsd:schema xmlns:xsd="http://www.w3.org/2001/XMLSchema" xmlns:xs="http://www.w3.org/2001/XMLSchema" xmlns:p="http://schemas.microsoft.com/office/2006/metadata/properties" xmlns:ns3="11e58a82-3257-4d17-aa04-aa695e39addf" xmlns:ns4="70f8e600-44a1-4a39-a7ca-6ac0ea449fc7" targetNamespace="http://schemas.microsoft.com/office/2006/metadata/properties" ma:root="true" ma:fieldsID="7154c6f3bb9d8a44070c0b8c474be1c4" ns3:_="" ns4:_="">
    <xsd:import namespace="11e58a82-3257-4d17-aa04-aa695e39addf"/>
    <xsd:import namespace="70f8e600-44a1-4a39-a7ca-6ac0ea449f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e58a82-3257-4d17-aa04-aa695e39a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f8e600-44a1-4a39-a7ca-6ac0ea449f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e58a82-3257-4d17-aa04-aa695e39addf" xsi:nil="true"/>
  </documentManagement>
</p:properties>
</file>

<file path=customXml/itemProps1.xml><?xml version="1.0" encoding="utf-8"?>
<ds:datastoreItem xmlns:ds="http://schemas.openxmlformats.org/officeDocument/2006/customXml" ds:itemID="{8A077E41-75C0-44B8-AE0A-1D55C12591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EE0BF9-A2BD-46FC-B75B-EB9D471449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e58a82-3257-4d17-aa04-aa695e39addf"/>
    <ds:schemaRef ds:uri="70f8e600-44a1-4a39-a7ca-6ac0ea449f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E26501-C543-414D-9E15-B14224DE7A64}">
  <ds:schemaRefs>
    <ds:schemaRef ds:uri="http://purl.org/dc/terms/"/>
    <ds:schemaRef ds:uri="http://schemas.microsoft.com/office/2006/metadata/properties"/>
    <ds:schemaRef ds:uri="http://purl.org/dc/elements/1.1/"/>
    <ds:schemaRef ds:uri="11e58a82-3257-4d17-aa04-aa695e39addf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70f8e600-44a1-4a39-a7ca-6ac0ea449f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2360</TotalTime>
  <Words>1004</Words>
  <Application>Microsoft Office PowerPoint</Application>
  <PresentationFormat>Panorámica</PresentationFormat>
  <Paragraphs>189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Tema de Office</vt:lpstr>
      <vt:lpstr>React – SESIÓN 1 – Inicio del proyecto</vt:lpstr>
      <vt:lpstr>React – SESIÓN 1</vt:lpstr>
      <vt:lpstr>React – SESIÓN 1 – Estructura</vt:lpstr>
      <vt:lpstr>React – 1. Crear el Proyecto</vt:lpstr>
      <vt:lpstr>React – 1. Crear el Proyecto</vt:lpstr>
      <vt:lpstr>React – 2. Comprender la estructura</vt:lpstr>
      <vt:lpstr>React – 2. Comprender la estructura</vt:lpstr>
      <vt:lpstr>React – 3. Limpieza del proyecto</vt:lpstr>
      <vt:lpstr>React – 4. Primer componente</vt:lpstr>
      <vt:lpstr>React – 5. Reutilización</vt:lpstr>
      <vt:lpstr>React – 6. Introducción a props</vt:lpstr>
      <vt:lpstr>React – 6. Cómo funciona?</vt:lpstr>
      <vt:lpstr>React – 6. Opción 1</vt:lpstr>
      <vt:lpstr>React – 6. Opción 2</vt:lpstr>
      <vt:lpstr>React – 6. Enviar datos</vt:lpstr>
      <vt:lpstr>React – 6. Opción 2</vt:lpstr>
      <vt:lpstr>React – 7. Primer commit en Git</vt:lpstr>
      <vt:lpstr>React – 8. Actividad en clase</vt:lpstr>
      <vt:lpstr>React – SESIÓN 2 – Render dinámico y estado</vt:lpstr>
      <vt:lpstr>React – Crear estructura de datos</vt:lpstr>
      <vt:lpstr>React – Render dinámico con .map()</vt:lpstr>
      <vt:lpstr>React – Introducción a useState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en JavaScript - Declaración</dc:title>
  <dc:creator>Jorge Eduardo Perez Garcia</dc:creator>
  <cp:lastModifiedBy>Cesde</cp:lastModifiedBy>
  <cp:revision>177</cp:revision>
  <dcterms:created xsi:type="dcterms:W3CDTF">2024-08-02T00:27:09Z</dcterms:created>
  <dcterms:modified xsi:type="dcterms:W3CDTF">2026-04-24T23:59:38Z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0x01010012C541CDB6EC544B901621DD096179E2</vt:lpwstr>
  </property>
</Properties>
</file>